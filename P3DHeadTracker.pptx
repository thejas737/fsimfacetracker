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5583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Webcam-Based 3D Head Tracking  |  Information Science and Engineering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7B1C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7B1C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AR/VR PROJECT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6035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Webcam-Based 3D Head Tracking for Flight Simulation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61188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Computer Vision Using Python, OpenTrack and Prepar3D v5.4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48056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FF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“Turning natural head movement into an immersive virtual cockpit experience.”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39496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A7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Thejas J, Siddanth, Suhana, Anam, Hiba, Sneha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A7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Science and Engineering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7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 Aloysius (Deemed to be University)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A7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 faculty of ARVR,  </a:t>
            </a:r>
            <a:r>
              <a:rPr lang="en-US" sz="1400" b="1" dirty="0">
                <a:solidFill>
                  <a:srgbClr val="A7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Ms. Ashwija</a:t>
            </a:r>
            <a:endParaRPr lang="en-US" sz="1400" b="1" dirty="0"/>
          </a:p>
        </p:txBody>
      </p:sp>
      <p:sp>
        <p:nvSpPr>
          <p:cNvPr id="7" name="Shape 5"/>
          <p:cNvSpPr/>
          <p:nvPr/>
        </p:nvSpPr>
        <p:spPr>
          <a:xfrm>
            <a:off x="7040880" y="640080"/>
            <a:ext cx="4572000" cy="5577840"/>
          </a:xfrm>
          <a:prstGeom prst="rect">
            <a:avLst/>
          </a:prstGeom>
          <a:solidFill>
            <a:srgbClr val="0F192B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2926080"/>
            <a:ext cx="457200" cy="4572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132320" y="34747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7B1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[INSERT IMAGE: Prepar3D cockpit screenshot or project setup photograph]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 flipV="1">
            <a:off x="7040880" y="4754880"/>
            <a:ext cx="0" cy="914400"/>
          </a:xfrm>
          <a:prstGeom prst="line">
            <a:avLst/>
          </a:prstGeom>
          <a:noFill/>
          <a:ln w="25400">
            <a:solidFill>
              <a:srgbClr val="FFB84D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7040880" y="5669280"/>
            <a:ext cx="914400" cy="0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 txBox="1"/>
          <p:nvPr/>
        </p:nvSpPr>
        <p:spPr>
          <a:xfrm>
            <a:off x="6858000" y="4617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B8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046720" y="5577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11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23D9DDC-9587-02DD-1E68-2F75B709192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3203" t="-459" r="-35490" b="459"/>
          <a:stretch>
            <a:fillRect/>
          </a:stretch>
        </p:blipFill>
        <p:spPr>
          <a:xfrm>
            <a:off x="7040880" y="1548881"/>
            <a:ext cx="6684866" cy="37602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Natural Head Movement into the Virtual Cockpit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783080" cy="1143000"/>
          </a:xfrm>
          <a:prstGeom prst="roundRect">
            <a:avLst>
              <a:gd name="adj" fmla="val 6400"/>
            </a:avLst>
          </a:prstGeom>
          <a:solidFill>
            <a:srgbClr val="121B30"/>
          </a:solidFill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Movement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7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looks around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377440" y="1828800"/>
            <a:ext cx="365760" cy="274320"/>
          </a:xfrm>
          <a:prstGeom prst="rightArrow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88920" y="1371600"/>
            <a:ext cx="1783080" cy="1143000"/>
          </a:xfrm>
          <a:prstGeom prst="roundRect">
            <a:avLst>
              <a:gd name="adj" fmla="val 6400"/>
            </a:avLst>
          </a:prstGeom>
          <a:solidFill>
            <a:srgbClr val="121B30"/>
          </a:solidFill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2880360" y="14630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880360" y="19659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7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frames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17720" y="1828800"/>
            <a:ext cx="365760" cy="274320"/>
          </a:xfrm>
          <a:prstGeom prst="rightArrow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5029200" y="1371600"/>
            <a:ext cx="1783080" cy="1143000"/>
          </a:xfrm>
          <a:prstGeom prst="roundRect">
            <a:avLst>
              <a:gd name="adj" fmla="val 6400"/>
            </a:avLst>
          </a:prstGeom>
          <a:solidFill>
            <a:srgbClr val="121B30"/>
          </a:solidFill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5120640" y="14630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120640" y="19659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7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head pose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0" y="1828800"/>
            <a:ext cx="365760" cy="274320"/>
          </a:xfrm>
          <a:prstGeom prst="rightArrow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269480" y="1371600"/>
            <a:ext cx="1783080" cy="1143000"/>
          </a:xfrm>
          <a:prstGeom prst="roundRect">
            <a:avLst>
              <a:gd name="adj" fmla="val 6400"/>
            </a:avLst>
          </a:prstGeom>
          <a:solidFill>
            <a:srgbClr val="121B30"/>
          </a:solidFill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7360920" y="14630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OpenTrack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360920" y="19659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7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tracking data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098280" y="1828800"/>
            <a:ext cx="365760" cy="274320"/>
          </a:xfrm>
          <a:prstGeom prst="rightArrow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9509760" y="1371600"/>
            <a:ext cx="1783080" cy="1143000"/>
          </a:xfrm>
          <a:prstGeom prst="roundRect">
            <a:avLst>
              <a:gd name="adj" fmla="val 6400"/>
            </a:avLst>
          </a:prstGeom>
          <a:solidFill>
            <a:srgbClr val="121B30"/>
          </a:solidFill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9601200" y="14630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Prepar3D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9601200" y="19659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7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the camera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283464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121B30"/>
          </a:solidFill>
          <a:ln w="12700">
            <a:solidFill>
              <a:srgbClr val="24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731520" y="2926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A7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viewing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32918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camera controls: mouse, keyboard or view shortcuts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474720" y="283464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121B30"/>
          </a:solidFill>
          <a:ln w="19050">
            <a:solidFill>
              <a:srgbClr val="FFB8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3657600" y="2926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Head-tracked viewing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3657600" y="32918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physical movement drives the cockpit view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4480560"/>
            <a:ext cx="5760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viewpoints and key presses interrupt immersion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tracking lets the virtual camera follow the pilot’s head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ordinary webcam and computer vision estimate position and orientation in real time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98932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A7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enhances the viewing experience; it does not replace other simulator controls.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583680" y="2834640"/>
            <a:ext cx="5029200" cy="3154680"/>
          </a:xfrm>
          <a:prstGeom prst="rect">
            <a:avLst/>
          </a:prstGeom>
          <a:solidFill>
            <a:srgbClr val="0F192B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3909060"/>
            <a:ext cx="457200" cy="457200"/>
          </a:xfrm>
          <a:prstGeom prst="rect">
            <a:avLst/>
          </a:prstGeom>
        </p:spPr>
      </p:pic>
      <p:sp>
        <p:nvSpPr>
          <p:cNvPr id="32" name="Text 29"/>
          <p:cNvSpPr txBox="1"/>
          <p:nvPr/>
        </p:nvSpPr>
        <p:spPr>
          <a:xfrm>
            <a:off x="6675120" y="44577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7B1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[INSERT SCREENSHOT: Prepar3D cockpit before and after head tracking]</a:t>
            </a:r>
            <a:endParaRPr lang="en-US" sz="10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7B1C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3423BB3E-A60F-DFB6-A7D5-46D9323049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2788920"/>
            <a:ext cx="5609945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Technology Behind the Tracker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86400" cy="3017520"/>
          </a:xfrm>
          <a:prstGeom prst="roundRect">
            <a:avLst>
              <a:gd name="adj" fmla="val 2424"/>
            </a:avLst>
          </a:prstGeom>
          <a:solidFill>
            <a:srgbClr val="121B30"/>
          </a:solidFill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731520" y="14630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PYTHON APPLICATION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874520"/>
            <a:ext cx="2423160" cy="1097280"/>
          </a:xfrm>
          <a:prstGeom prst="roundRect">
            <a:avLst>
              <a:gd name="adj" fmla="val 6667"/>
            </a:avLst>
          </a:prstGeom>
          <a:solidFill>
            <a:srgbClr val="0F192B"/>
          </a:solidFill>
          <a:ln w="12700">
            <a:solidFill>
              <a:srgbClr val="24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841248" y="19476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258568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7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logic, pose processing, filtering, communication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874520"/>
            <a:ext cx="2423160" cy="1097280"/>
          </a:xfrm>
          <a:prstGeom prst="roundRect">
            <a:avLst>
              <a:gd name="adj" fmla="val 6667"/>
            </a:avLst>
          </a:prstGeom>
          <a:solidFill>
            <a:srgbClr val="0F192B"/>
          </a:solidFill>
          <a:ln w="12700">
            <a:solidFill>
              <a:srgbClr val="24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3447288" y="19476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2258568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7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capture, calibration parameters, solvePnP pose estimation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108960"/>
            <a:ext cx="2423160" cy="1097280"/>
          </a:xfrm>
          <a:prstGeom prst="roundRect">
            <a:avLst>
              <a:gd name="adj" fmla="val 6667"/>
            </a:avLst>
          </a:prstGeom>
          <a:solidFill>
            <a:srgbClr val="0F192B"/>
          </a:solidFill>
          <a:ln w="12700">
            <a:solidFill>
              <a:srgbClr val="24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841248" y="31821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Face Mesh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" y="3493008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7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facial landmarks in each frame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37560" y="3108960"/>
            <a:ext cx="2423160" cy="1097280"/>
          </a:xfrm>
          <a:prstGeom prst="roundRect">
            <a:avLst>
              <a:gd name="adj" fmla="val 6667"/>
            </a:avLst>
          </a:prstGeom>
          <a:solidFill>
            <a:srgbClr val="0F192B"/>
          </a:solidFill>
          <a:ln w="12700">
            <a:solidFill>
              <a:srgbClr val="24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3447288" y="31821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447288" y="3493008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7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maths, vectors and filtering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2743200"/>
            <a:ext cx="457200" cy="274320"/>
          </a:xfrm>
          <a:prstGeom prst="rightArrow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5989320" y="3063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UDP · 6 floats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58000" y="2057400"/>
            <a:ext cx="2194560" cy="1371600"/>
          </a:xfrm>
          <a:prstGeom prst="roundRect">
            <a:avLst>
              <a:gd name="adj" fmla="val 5333"/>
            </a:avLst>
          </a:prstGeom>
          <a:solidFill>
            <a:srgbClr val="121B30"/>
          </a:solidFill>
          <a:ln w="19050">
            <a:solidFill>
              <a:srgbClr val="468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6949440" y="2148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6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OpenTrack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949440" y="251460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7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data, applies mappings and curves, outputs camera movement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098280" y="2743200"/>
            <a:ext cx="365760" cy="274320"/>
          </a:xfrm>
          <a:prstGeom prst="rightArrow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9509760" y="2057400"/>
            <a:ext cx="2103120" cy="1371600"/>
          </a:xfrm>
          <a:prstGeom prst="roundRect">
            <a:avLst>
              <a:gd name="adj" fmla="val 5333"/>
            </a:avLst>
          </a:prstGeom>
          <a:solidFill>
            <a:srgbClr val="121B30"/>
          </a:solidFill>
          <a:ln w="19050">
            <a:solidFill>
              <a:srgbClr val="FFB8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9601200" y="2148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Prepar3D v5.4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9601200" y="26060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7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simulator with head-tracked viewing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858000" y="3657600"/>
            <a:ext cx="4754880" cy="2560320"/>
          </a:xfrm>
          <a:prstGeom prst="rect">
            <a:avLst/>
          </a:prstGeom>
          <a:solidFill>
            <a:srgbClr val="0F192B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 txBox="1"/>
          <p:nvPr/>
        </p:nvSpPr>
        <p:spPr>
          <a:xfrm>
            <a:off x="6949440" y="4983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7B1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[INSERT SCREENSHOT: Python tracker console or application]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461772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OpenCV + MediaPipe + NumPy form the vision pipeline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 carries six tracking values to OpenTrack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OpenTrack handles mapping and simulator output</a:t>
            </a:r>
            <a:endParaRPr lang="en-US" sz="14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7B1C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8E3E1F66-BD76-9224-7564-B2A04C0F46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7411" y="4324700"/>
            <a:ext cx="6367418" cy="12261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Build a Custom Tracker Instead of Using OpenTrack Alone?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3017520"/>
          </a:xfrm>
          <a:prstGeom prst="roundRect">
            <a:avLst>
              <a:gd name="adj" fmla="val 2424"/>
            </a:avLst>
          </a:prstGeom>
          <a:solidFill>
            <a:srgbClr val="121B30"/>
          </a:solidFill>
          <a:ln w="19050">
            <a:solidFill>
              <a:srgbClr val="468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777240" y="1463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46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OpenTrack provides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20240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to receive, filter, map and forward tracking data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axis mapping and response curves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 with supported tracking protocols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to the simulator through its supported interface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3017520"/>
          </a:xfrm>
          <a:prstGeom prst="roundRect">
            <a:avLst>
              <a:gd name="adj" fmla="val 2424"/>
            </a:avLst>
          </a:prstGeom>
          <a:solidFill>
            <a:srgbClr val="121B30"/>
          </a:solidFill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6446520" y="1463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Python tracker adds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1920240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landmark detection with MediaPipe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3D head-pose estimation with OpenCV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smoothing: jitter vs. responsiveness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handling of rotation and translation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 of the algorithm for future changes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57200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0F192B"/>
          </a:solidFill>
          <a:ln w="12700">
            <a:solidFill>
              <a:srgbClr val="24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548640" y="45720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Vision &amp; Pose Estimation  →  UDP Tracking Data  →  OpenTrack  →  Prepar3D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30352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7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OpenTrack already supports several tracking sources, so a custom tracker is not inherently superior. We built one to gain control of the vision algorithm and explore a low-cost, modifiable solution.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9436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FF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“OpenTrack handles the data interface and output; our application implements the vision pipeline.”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0" y="5257800"/>
            <a:ext cx="3840480" cy="1097280"/>
          </a:xfrm>
          <a:prstGeom prst="rect">
            <a:avLst/>
          </a:prstGeom>
          <a:solidFill>
            <a:srgbClr val="0F192B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8048" y="5431536"/>
            <a:ext cx="329184" cy="329184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7863840" y="5852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7B1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[INSERT SCREENSHOT: OpenTrack input/output configuration and raw tracker data]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7B1C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DB82046-4A08-4C85-F82A-7C7E2380AE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8854" y="5302500"/>
            <a:ext cx="4380313" cy="100592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Flight Simulation: Applications of Webcam-Based Head Tracking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651760" cy="4572000"/>
          </a:xfrm>
          <a:prstGeom prst="roundRect">
            <a:avLst>
              <a:gd name="adj" fmla="val 2759"/>
            </a:avLst>
          </a:prstGeom>
          <a:solidFill>
            <a:srgbClr val="121B30"/>
          </a:solidFill>
          <a:ln w="19050">
            <a:solidFill>
              <a:srgbClr val="FFB8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85800" y="1508760"/>
            <a:ext cx="2377440" cy="1463040"/>
          </a:xfrm>
          <a:prstGeom prst="rect">
            <a:avLst/>
          </a:prstGeom>
          <a:solidFill>
            <a:srgbClr val="0F192B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5064" y="1755648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7B1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[INSERT IMAGE: Flight simulator cockpit]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108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Flight Simulation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6576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A7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97764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cockpit viewing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spatial awareness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instruments, windows, panels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364992" y="1371600"/>
            <a:ext cx="2651760" cy="4572000"/>
          </a:xfrm>
          <a:prstGeom prst="roundRect">
            <a:avLst>
              <a:gd name="adj" fmla="val 2759"/>
            </a:avLst>
          </a:prstGeom>
          <a:solidFill>
            <a:srgbClr val="121B30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3502152" y="1508760"/>
            <a:ext cx="2377440" cy="1463040"/>
          </a:xfrm>
          <a:prstGeom prst="rect">
            <a:avLst/>
          </a:prstGeom>
          <a:solidFill>
            <a:srgbClr val="0F192B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416" y="1755648"/>
            <a:ext cx="438912" cy="43891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93592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7B1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[INSERT IMAGE: Head-controlled gaming camera]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3502152" y="3108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Gaming &amp; Virtual Cameras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3502152" y="36576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A7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USE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3502152" y="397764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Viewpoint control in supported games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follows natural movement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181344" y="1371600"/>
            <a:ext cx="2651760" cy="4572000"/>
          </a:xfrm>
          <a:prstGeom prst="roundRect">
            <a:avLst>
              <a:gd name="adj" fmla="val 2759"/>
            </a:avLst>
          </a:prstGeom>
          <a:solidFill>
            <a:srgbClr val="121B30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6318504" y="1508760"/>
            <a:ext cx="2377440" cy="1463040"/>
          </a:xfrm>
          <a:prstGeom prst="rect">
            <a:avLst/>
          </a:prstGeom>
          <a:solidFill>
            <a:srgbClr val="0F192B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7768" y="1755648"/>
            <a:ext cx="438912" cy="43891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409944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7B1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[INSERT IMAGE: Hands-free computer interaction]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6318504" y="3108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Human-Computer Interaction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6318504" y="36576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A7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USE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6318504" y="397764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Hands-free viewpoint control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accessibility scenarios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8997696" y="1371600"/>
            <a:ext cx="2651760" cy="4572000"/>
          </a:xfrm>
          <a:prstGeom prst="roundRect">
            <a:avLst>
              <a:gd name="adj" fmla="val 2759"/>
            </a:avLst>
          </a:prstGeom>
          <a:solidFill>
            <a:srgbClr val="121B30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0"/>
          <p:cNvSpPr/>
          <p:nvPr/>
        </p:nvSpPr>
        <p:spPr>
          <a:xfrm>
            <a:off x="9134856" y="1508760"/>
            <a:ext cx="2377440" cy="1463040"/>
          </a:xfrm>
          <a:prstGeom prst="rect">
            <a:avLst/>
          </a:prstGeom>
          <a:solidFill>
            <a:srgbClr val="0F192B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1755648"/>
            <a:ext cx="438912" cy="438912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9226296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7B1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[INSERT IMAGE: Human-robot interaction]</a:t>
            </a:r>
            <a:endParaRPr lang="en-US" sz="1000" dirty="0"/>
          </a:p>
        </p:txBody>
      </p:sp>
      <p:sp>
        <p:nvSpPr>
          <p:cNvPr id="28" name="Text 22"/>
          <p:cNvSpPr txBox="1"/>
          <p:nvPr/>
        </p:nvSpPr>
        <p:spPr>
          <a:xfrm>
            <a:off x="9134856" y="3108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Robotics &amp; Research</a:t>
            </a:r>
            <a:endParaRPr lang="en-US" sz="1600" dirty="0"/>
          </a:p>
        </p:txBody>
      </p:sp>
      <p:sp>
        <p:nvSpPr>
          <p:cNvPr id="29" name="Text 23"/>
          <p:cNvSpPr txBox="1"/>
          <p:nvPr/>
        </p:nvSpPr>
        <p:spPr>
          <a:xfrm>
            <a:off x="9134856" y="36576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A7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USE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9134856" y="397764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interaction experiments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robot interfaces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pose estimation research</a:t>
            </a:r>
            <a:endParaRPr lang="en-US" sz="1400" dirty="0"/>
          </a:p>
        </p:txBody>
      </p:sp>
      <p:sp>
        <p:nvSpPr>
          <p:cNvPr id="31" name="Text 25"/>
          <p:cNvSpPr txBox="1"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A7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depend on the tracking system, software integration, and operating environment.</a:t>
            </a:r>
            <a:endParaRPr lang="en-US" sz="12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7B1C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5A3D42DF-60C5-0BE8-54D3-1B594A0276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017" y="1516379"/>
            <a:ext cx="2600960" cy="1463040"/>
          </a:xfrm>
          <a:prstGeom prst="rect">
            <a:avLst/>
          </a:prstGeom>
        </p:spPr>
      </p:pic>
      <p:pic>
        <p:nvPicPr>
          <p:cNvPr id="35" name="Picture 34" descr="TrackIR5 - In Depth | TrackIR">
            <a:extLst>
              <a:ext uri="{FF2B5EF4-FFF2-40B4-BE49-F238E27FC236}">
                <a16:creationId xmlns:a16="http://schemas.microsoft.com/office/drawing/2014/main" id="{4E5285B8-FDF4-A711-D04D-31BB51B9E7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6478" y="1543050"/>
            <a:ext cx="2408787" cy="1351597"/>
          </a:xfrm>
          <a:prstGeom prst="rect">
            <a:avLst/>
          </a:prstGeom>
        </p:spPr>
      </p:pic>
      <p:pic>
        <p:nvPicPr>
          <p:cNvPr id="36" name="Picture 35" descr="This digital hand enables hands-free virtual reality - Michigan Engineering News">
            <a:extLst>
              <a:ext uri="{FF2B5EF4-FFF2-40B4-BE49-F238E27FC236}">
                <a16:creationId xmlns:a16="http://schemas.microsoft.com/office/drawing/2014/main" id="{99DA4565-C36B-9F8F-FF5A-6DDCCC265A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8504" y="1455420"/>
            <a:ext cx="2377440" cy="1584960"/>
          </a:xfrm>
          <a:prstGeom prst="rect">
            <a:avLst/>
          </a:prstGeom>
        </p:spPr>
      </p:pic>
      <p:pic>
        <p:nvPicPr>
          <p:cNvPr id="37" name="Picture 36" descr="Loft Dynamics becomes world's first VR flight simulation training device to  receive FAA qualification - Vertical Mag">
            <a:extLst>
              <a:ext uri="{FF2B5EF4-FFF2-40B4-BE49-F238E27FC236}">
                <a16:creationId xmlns:a16="http://schemas.microsoft.com/office/drawing/2014/main" id="{E037D5E3-9E89-6B3B-9B33-B1DA1C2A04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84283" y="1421557"/>
            <a:ext cx="2478585" cy="16526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 Head Tracking Using Hardware You Already Own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949440" cy="3968496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Webcam approach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Dedicated hardware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2F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if a webcam already exists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2F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Additional purchase usually required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 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2F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Open-source libraries possible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2F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Depends on product and licence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2F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Camera position and lighting matter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2F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Device-specific setup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2F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Depends on camera, light, algorithm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2F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Depends on sensor and design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Customization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2F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for a self-built algorithm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2F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Depends on available software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2F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Depends on hardware and 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2F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be optimized for tracking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772400" y="1371600"/>
            <a:ext cx="3840480" cy="2377440"/>
          </a:xfrm>
          <a:prstGeom prst="rect">
            <a:avLst/>
          </a:prstGeom>
          <a:solidFill>
            <a:srgbClr val="0F192B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2057400"/>
            <a:ext cx="457200" cy="457200"/>
          </a:xfrm>
          <a:prstGeom prst="rect">
            <a:avLst/>
          </a:prstGeom>
        </p:spPr>
      </p:pic>
      <p:sp>
        <p:nvSpPr>
          <p:cNvPr id="3" name="Shape 3"/>
          <p:cNvSpPr/>
          <p:nvPr/>
        </p:nvSpPr>
        <p:spPr>
          <a:xfrm>
            <a:off x="7772400" y="393192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121B30"/>
          </a:solidFill>
          <a:ln w="19050">
            <a:solidFill>
              <a:srgbClr val="FFB8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4"/>
          <p:cNvSpPr txBox="1"/>
          <p:nvPr/>
        </p:nvSpPr>
        <p:spPr>
          <a:xfrm>
            <a:off x="7955280" y="402336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incremental hardware cost, but development time and computer processing still matter.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4864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FF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project lowers the barrier to entry by using an accessible camera and software, trading some consistency and robustness for affordability and flexibility.”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7B1C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D2F0563-A0F7-B289-ED00-67E07222F18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" t="25083" r="-1768" b="19088"/>
          <a:stretch>
            <a:fillRect/>
          </a:stretch>
        </p:blipFill>
        <p:spPr>
          <a:xfrm>
            <a:off x="8095705" y="1371600"/>
            <a:ext cx="3250319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Facial Landmarks to Six-Axis Camera Movement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737360" cy="1965960"/>
          </a:xfrm>
          <a:prstGeom prst="roundRect">
            <a:avLst>
              <a:gd name="adj" fmla="val 4211"/>
            </a:avLst>
          </a:prstGeom>
          <a:solidFill>
            <a:srgbClr val="121B30"/>
          </a:solidFill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Capture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8308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reads webcam frames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423160" y="1325880"/>
            <a:ext cx="1737360" cy="1965960"/>
          </a:xfrm>
          <a:prstGeom prst="roundRect">
            <a:avLst>
              <a:gd name="adj" fmla="val 4211"/>
            </a:avLst>
          </a:prstGeom>
          <a:solidFill>
            <a:srgbClr val="121B30"/>
          </a:solidFill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2514600" y="1417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Landmarks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514600" y="178308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finds nose, chin, eye and mouth points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325880"/>
            <a:ext cx="1737360" cy="1965960"/>
          </a:xfrm>
          <a:prstGeom prst="roundRect">
            <a:avLst>
              <a:gd name="adj" fmla="val 4211"/>
            </a:avLst>
          </a:prstGeom>
          <a:solidFill>
            <a:srgbClr val="121B30"/>
          </a:solidFill>
          <a:ln w="19050">
            <a:solidFill>
              <a:srgbClr val="FFB8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4389120" y="1417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Head Pose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389120" y="178308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solvePnP matches 2D points to a simplified 3D face model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1325880"/>
            <a:ext cx="1737360" cy="1965960"/>
          </a:xfrm>
          <a:prstGeom prst="roundRect">
            <a:avLst>
              <a:gd name="adj" fmla="val 4211"/>
            </a:avLst>
          </a:prstGeom>
          <a:solidFill>
            <a:srgbClr val="121B30"/>
          </a:solidFill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6263640" y="1417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Smooth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178308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exponential filter; rotation and translation separate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46720" y="1325880"/>
            <a:ext cx="1737360" cy="1965960"/>
          </a:xfrm>
          <a:prstGeom prst="roundRect">
            <a:avLst>
              <a:gd name="adj" fmla="val 4211"/>
            </a:avLst>
          </a:prstGeom>
          <a:solidFill>
            <a:srgbClr val="121B30"/>
          </a:solidFill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8138160" y="1417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Six Axes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138160" y="178308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Yaw, pitch, roll, X, Y, Z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921240" y="1325880"/>
            <a:ext cx="1737360" cy="1965960"/>
          </a:xfrm>
          <a:prstGeom prst="roundRect">
            <a:avLst>
              <a:gd name="adj" fmla="val 4211"/>
            </a:avLst>
          </a:prstGeom>
          <a:solidFill>
            <a:srgbClr val="121B30"/>
          </a:solidFill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10012680" y="1417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Send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012680" y="178308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floats in one UDP packet to OpenTrack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52044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0F192B"/>
          </a:solidFill>
          <a:ln w="12700">
            <a:solidFill>
              <a:srgbClr val="24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731520" y="3566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3886200"/>
            <a:ext cx="3291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2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Capture webcam frame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2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 facial landmarks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2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Estimate head pose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2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Apply adaptive smoothing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2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 X,Y,Z,yaw,pitch,roll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2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 tracking data via UDP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297680" y="3520440"/>
            <a:ext cx="3749040" cy="1920240"/>
          </a:xfrm>
          <a:prstGeom prst="roundRect">
            <a:avLst>
              <a:gd name="adj" fmla="val 3810"/>
            </a:avLst>
          </a:prstGeom>
          <a:solidFill>
            <a:srgbClr val="121B30"/>
          </a:solidFill>
          <a:ln w="12700">
            <a:solidFill>
              <a:srgbClr val="243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4480560" y="3566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degrees of freedom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480560" y="393192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 </a:t>
            </a:r>
            <a:r>
              <a:rPr lang="en-US" sz="12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Yaw: turn left/right · Pitch: tilt up/down · Roll: tilt sideways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 </a:t>
            </a:r>
            <a:r>
              <a:rPr lang="en-US" sz="12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X: left/right · Y: up/down · Z: toward/away from camera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0" y="35204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7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Slow/tiny motion → stronger smoothing. Fast motion → more responsive.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229600" y="4160520"/>
            <a:ext cx="3383280" cy="1280160"/>
          </a:xfrm>
          <a:prstGeom prst="rect">
            <a:avLst/>
          </a:prstGeom>
          <a:solidFill>
            <a:srgbClr val="0F192B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9216" y="4370832"/>
            <a:ext cx="384048" cy="384048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8321040" y="4846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7B1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[INSERT SCREENSHOT: MediaPipe landmarks or OpenTrack raw data]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56235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A7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from monocular facial geometry is approximate and can be affected by lighting, camera calibration and head rotation. The system estimates pose from a simplified face model, not a perfect 3D reconstruction. Frame rate depends on the camera and processing power.</a:t>
            </a:r>
            <a:endParaRPr lang="en-US" sz="12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7B1C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B9BA759C-7DED-C665-5BF5-434CF0D8AA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3584" y="4314104"/>
            <a:ext cx="4038191" cy="9273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More Natural View of the Virtual Cockpit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5303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head tracking built in Python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and OpenCV estimate head pose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smoothing balances stability and responsiveness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Six-axis data sent to OpenTrack over UDP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with Prepar3D v5.4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alternative to dedicated hardware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217920" y="13716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217920" y="1828800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calibration and translation accuracy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under varying lighting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profiling and latency optimization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filtering and tracking-loss recovery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623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A7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Discussion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217920" y="3840480"/>
            <a:ext cx="5394960" cy="2377440"/>
          </a:xfrm>
          <a:prstGeom prst="rect">
            <a:avLst/>
          </a:prstGeom>
          <a:solidFill>
            <a:srgbClr val="0F192B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4526280"/>
            <a:ext cx="457200" cy="457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7B1C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AEFCFE9-7626-A031-E41E-EEAB7B1246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4394" y="3680460"/>
            <a:ext cx="4715606" cy="2651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ark Aviation">
  <a:themeElements>
    <a:clrScheme name="Dark Aviation">
      <a:dk1>
        <a:srgbClr val="0B1220"/>
      </a:dk1>
      <a:lt1>
        <a:srgbClr val="F2F5FA"/>
      </a:lt1>
      <a:dk2>
        <a:srgbClr val="121B30"/>
      </a:dk2>
      <a:lt2>
        <a:srgbClr val="A7B1C2"/>
      </a:lt2>
      <a:accent1>
        <a:srgbClr val="00D4FF"/>
      </a:accent1>
      <a:accent2>
        <a:srgbClr val="468BFF"/>
      </a:accent2>
      <a:accent3>
        <a:srgbClr val="FFB84D"/>
      </a:accent3>
      <a:accent4>
        <a:srgbClr val="24344F"/>
      </a:accent4>
      <a:accent5>
        <a:srgbClr val="7FE3FF"/>
      </a:accent5>
      <a:accent6>
        <a:srgbClr val="FFD699"/>
      </a:accent6>
      <a:hlink>
        <a:srgbClr val="00D4FF"/>
      </a:hlink>
      <a:folHlink>
        <a:srgbClr val="468BFF"/>
      </a:folHlink>
    </a:clrScheme>
    <a:fontScheme name="Dark Aviatio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980</Words>
  <Application>Microsoft Office PowerPoint</Application>
  <PresentationFormat>Widescreen</PresentationFormat>
  <Paragraphs>170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Courier New</vt:lpstr>
      <vt:lpstr>Dark Aviation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Webcam-Based 3D Head Tracking for Flight Simulation</dc:title>
  <dc:subject>PptxGenJS Presentation</dc:subject>
  <dc:creator>PptxGenJS</dc:creator>
  <cp:lastModifiedBy>Thejas Jagadeesh</cp:lastModifiedBy>
  <cp:revision>2</cp:revision>
  <dcterms:created xsi:type="dcterms:W3CDTF">2026-10-28T15:28:57Z</dcterms:created>
  <dcterms:modified xsi:type="dcterms:W3CDTF">2026-10-28T17:26:31Z</dcterms:modified>
</cp:coreProperties>
</file>